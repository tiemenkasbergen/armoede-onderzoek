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households below poverty line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6.9</c:v>
                </c:pt>
                <c:pt idx="1">
                  <c:v>8</c:v>
                </c:pt>
                <c:pt idx="2">
                  <c:v>8.9</c:v>
                </c:pt>
                <c:pt idx="3">
                  <c:v>8.5</c:v>
                </c:pt>
                <c:pt idx="4">
                  <c:v>8.2</c:v>
                </c:pt>
                <c:pt idx="5">
                  <c:v>7.9</c:v>
                </c:pt>
                <c:pt idx="6">
                  <c:v>7.9</c:v>
                </c:pt>
                <c:pt idx="7">
                  <c:v>7.9</c:v>
                </c:pt>
                <c:pt idx="8">
                  <c:v>7.5</c:v>
                </c:pt>
                <c:pt idx="9">
                  <c:v>6.8</c:v>
                </c:pt>
                <c:pt idx="10">
                  <c:v>6.3</c:v>
                </c:pt>
                <c:pt idx="11">
                  <c:v>4.4</c:v>
                </c:pt>
                <c:pt idx="12">
                  <c:v>3.9</c:v>
                </c:pt>
                <c:pt idx="13">
                  <c:v>3.6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Single-parent household</c:v>
                </c:pt>
              </c:strCache>
            </c:strRef>
          </c:tx>
          <c:spPr>
            <a:solidFill>
              <a:srgbClr val="E8622A"/>
            </a:solidFill>
            <a:ln w="25400" cap="flat">
              <a:solidFill>
                <a:srgbClr val="E862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22A"/>
              </a:solidFill>
              <a:ln w="9525" cap="flat">
                <a:solidFill>
                  <a:srgbClr val="E862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17.5</c:v>
                </c:pt>
                <c:pt idx="1">
                  <c:v>19.5</c:v>
                </c:pt>
                <c:pt idx="2">
                  <c:v>21</c:v>
                </c:pt>
                <c:pt idx="3">
                  <c:v>19.8</c:v>
                </c:pt>
                <c:pt idx="4">
                  <c:v>19.2</c:v>
                </c:pt>
                <c:pt idx="5">
                  <c:v>18.5</c:v>
                </c:pt>
                <c:pt idx="6">
                  <c:v>17.8</c:v>
                </c:pt>
                <c:pt idx="7">
                  <c:v>17.2</c:v>
                </c:pt>
                <c:pt idx="8">
                  <c:v>16</c:v>
                </c:pt>
                <c:pt idx="9">
                  <c:v>14.5</c:v>
                </c:pt>
                <c:pt idx="10">
                  <c:v>12.8</c:v>
                </c:pt>
                <c:pt idx="11">
                  <c:v>10.5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Single-person household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</c:v>
                </c:pt>
                <c:pt idx="1">
                  <c:v>13.5</c:v>
                </c:pt>
                <c:pt idx="2">
                  <c:v>15.2</c:v>
                </c:pt>
                <c:pt idx="3">
                  <c:v>14.8</c:v>
                </c:pt>
                <c:pt idx="4">
                  <c:v>14.2</c:v>
                </c:pt>
                <c:pt idx="5">
                  <c:v>13.8</c:v>
                </c:pt>
                <c:pt idx="6">
                  <c:v>13.5</c:v>
                </c:pt>
                <c:pt idx="7">
                  <c:v>13.2</c:v>
                </c:pt>
                <c:pt idx="8">
                  <c:v>12.5</c:v>
                </c:pt>
                <c:pt idx="9">
                  <c:v>11.8</c:v>
                </c:pt>
                <c:pt idx="10">
                  <c:v>11</c:v>
                </c:pt>
                <c:pt idx="11">
                  <c:v>9.5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Couple with children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3.8</c:v>
                </c:pt>
                <c:pt idx="1">
                  <c:v>4.2</c:v>
                </c:pt>
                <c:pt idx="2">
                  <c:v>4.8</c:v>
                </c:pt>
                <c:pt idx="3">
                  <c:v>4.5</c:v>
                </c:pt>
                <c:pt idx="4">
                  <c:v>4.3</c:v>
                </c:pt>
                <c:pt idx="5">
                  <c:v>4.1</c:v>
                </c:pt>
                <c:pt idx="6">
                  <c:v>4</c:v>
                </c:pt>
                <c:pt idx="7">
                  <c:v>3.9</c:v>
                </c:pt>
                <c:pt idx="8">
                  <c:v>3.7</c:v>
                </c:pt>
                <c:pt idx="9">
                  <c:v>3.5</c:v>
                </c:pt>
                <c:pt idx="10">
                  <c:v>3.2</c:v>
                </c:pt>
                <c:pt idx="11">
                  <c:v>2.8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Couple (total)</c:v>
                </c:pt>
              </c:strCache>
            </c:strRef>
          </c:tx>
          <c:spPr>
            <a:solidFill>
              <a:srgbClr val="9333EA"/>
            </a:solidFill>
            <a:ln w="25400" cap="flat">
              <a:solidFill>
                <a:srgbClr val="9333E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333EA"/>
              </a:solidFill>
              <a:ln w="9525" cap="flat">
                <a:solidFill>
                  <a:srgbClr val="9333E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</c:v>
                </c:pt>
                <c:pt idx="1">
                  <c:v>3.4</c:v>
                </c:pt>
                <c:pt idx="2">
                  <c:v>3.8</c:v>
                </c:pt>
                <c:pt idx="3">
                  <c:v>3.6</c:v>
                </c:pt>
                <c:pt idx="4">
                  <c:v>3.4</c:v>
                </c:pt>
                <c:pt idx="5">
                  <c:v>3.3</c:v>
                </c:pt>
                <c:pt idx="6">
                  <c:v>3.2</c:v>
                </c:pt>
                <c:pt idx="7">
                  <c:v>3.1</c:v>
                </c:pt>
                <c:pt idx="8">
                  <c:v>3</c:v>
                </c:pt>
                <c:pt idx="9">
                  <c:v>2.8</c:v>
                </c:pt>
                <c:pt idx="10">
                  <c:v>2.6</c:v>
                </c:pt>
                <c:pt idx="11">
                  <c:v>2.2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COVID-19 (avg 8.0%)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6.9</c:v>
                </c:pt>
                <c:pt idx="1">
                  <c:v>8</c:v>
                </c:pt>
                <c:pt idx="2">
                  <c:v>8.9</c:v>
                </c:pt>
                <c:pt idx="3">
                  <c:v>8.5</c:v>
                </c:pt>
                <c:pt idx="4">
                  <c:v>8.2</c:v>
                </c:pt>
                <c:pt idx="5">
                  <c:v>7.9</c:v>
                </c:pt>
                <c:pt idx="6">
                  <c:v>7.9</c:v>
                </c:pt>
                <c:pt idx="7">
                  <c:v>7.9</c:v>
                </c:pt>
                <c:pt idx="8">
                  <c:v>7.5</c:v>
                </c:pt>
                <c:pt idx="9">
                  <c:v>6.8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COVID-19 (avg 5.8%)</c:v>
                </c:pt>
              </c:strCache>
            </c:strRef>
          </c:tx>
          <c:spPr>
            <a:solidFill>
              <a:srgbClr val="E8622A"/>
            </a:solidFill>
            <a:ln w="31750" cap="flat">
              <a:solidFill>
                <a:srgbClr val="E862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22A"/>
              </a:solidFill>
              <a:ln w="9525" cap="flat">
                <a:solidFill>
                  <a:srgbClr val="E862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6.8</c:v>
                </c:pt>
                <c:pt idx="10">
                  <c:v>6.3</c:v>
                </c:pt>
                <c:pt idx="11">
                  <c:v>4.4</c:v>
                </c:pt>
                <c:pt idx="12">
                  <c:v>3.9</c:v>
                </c:pt>
                <c:pt idx="13">
                  <c:v>3.6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-1371600"/>
            <a:ext cx="7772400" cy="7772400"/>
          </a:xfrm>
          <a:prstGeom prst="ellipse">
            <a:avLst/>
          </a:prstGeom>
          <a:solidFill>
            <a:srgbClr val="EEEEEE">
              <a:alpha val="7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in the Netherlands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286000" y="3566160"/>
            <a:ext cx="4572000" cy="5486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Tiemen &amp; Thijs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a Social Problem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is a persistent social problem in the Netherlands.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2022, approximately 4.7% of all households lived below the low-income threshold (CBS, 2023).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Single-parent households and single-person households face an above-average risk of poverty.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analyzes how poverty has developed between 2011 and 2024, which household types are most affected, and how poverty is geographically distributed.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focus: the COVID-19 period (2020) and its economic impact.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83841NED – Poverty by household type (2011–2024)</a:t>
            </a:r>
            <a:endParaRPr lang="en-US" sz="1400" dirty="0"/>
          </a:p>
          <a:p>
            <a:pPr lvl="1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figures per household type, collected via the Income Panel Survey (IPO). Contains percentage of households below the low-income threshold.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85678NED – Poverty by region (2022)</a:t>
            </a:r>
            <a:endParaRPr lang="en-US" sz="1400" dirty="0"/>
          </a:p>
          <a:p>
            <a:pPr lvl="1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figures for 2022, also from the IPO. Most recent provincial breakdown available.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households only (homeless and undocumented excluded). Provincial data limited to 2022.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New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on national level (RegioS == NL01)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correct income threshold and poverty duration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datasets using province names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Harmonized province names (Fryslân → Friesland)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armoede_verschil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change in poverty rate (percentage points). Shows whether poverty rises or falls faster.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boven_gemiddeld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variable (TRUE/FALSE) indicating whether a province scores above the national average in 2022.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18288" cy="30175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Variation (2011–2024)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peaked at 8.9% in 2013, then declined steadily to 3.6% in 2024 — a drop of more than 5 percentage points over 10 years.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Sub-population Variation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8412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Single-parent households face structurally higher poverty risk — more than 5x that of couples with children.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Variation (2022)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provincial map: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64592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Holland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poverty rate — driven by Rotterdam &amp; The Hague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6459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Groningen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 — large urban centre, income inequality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6459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Zeeland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poverty rate in the Netherlands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64592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Drenthe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lowest — predominantly rural, lower cost of living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provincial averages can mask intra-provincial inequality, especially in urban areas.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Analysis: COVID-19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8412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before COVID-19: 8.0%   |   Average after COVID-19: 5.8%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91947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economic shock, poverty continued to fall — likely due to government support (NOW-scheme, benefit increases).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in the Netherlands declined significantly from 2011 to 2024 (from ~9% to 3.6%).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Single-parent households and single-person households remain structurally vulnerable.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is geographically concentrated in provinces with large cities.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did not reverse the downward trend — government support appears to have played a key role.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households only. Provincial data from 2022 only. COVID analysis is associative, not causal.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1828800" y="777240"/>
            <a:ext cx="12801600" cy="3657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https://github.com/TiemenKasbergen/armoede-onderzoek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files (download from CBS Open Data):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Observations.csv (table 85678NED)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RegioSCodes.csv (same table)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KenmerkenVanHuishoudensCodes.csv (table 83841NED)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(2023). Armoede en sociale uitsluiting 2023.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Vrooman et al. (2020). Verschil in Nederland: Sociaal en Cultureel Rapport 2020. SCP.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Poverty in the Netherlands</dc:title>
  <dc:subject>PptxGenJS Presentation</dc:subject>
  <dc:creator>PptxGenJS</dc:creator>
  <cp:lastModifiedBy>PptxGenJS</cp:lastModifiedBy>
  <cp:revision>1</cp:revision>
  <dcterms:created xsi:type="dcterms:W3CDTF">2026-06-17T13:58:52Z</dcterms:created>
  <dcterms:modified xsi:type="dcterms:W3CDTF">2026-06-17T13:58:52Z</dcterms:modified>
</cp:coreProperties>
</file>